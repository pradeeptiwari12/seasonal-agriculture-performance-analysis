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43.jpg"/><Relationship Id="rId6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137767"/>
            <a:ext cx="3810000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3900933"/>
            <a:ext cx="9715500" cy="819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0385" y="2556867"/>
            <a:ext cx="9831228" cy="50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b="1" sz="3300" i="0" u="none">
                <a:solidFill>
                  <a:srgbClr val="1B4332"/>
                </a:solidFill>
                <a:latin typeface="Poppins"/>
              </a:rPr>
              <a:t>Seasonal Agriculture Performance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174057"/>
            <a:ext cx="8572500" cy="4792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87"/>
              </a:lnSpc>
            </a:pPr>
            <a:r>
              <a:rPr b="0" sz="1275" i="0" u="none">
                <a:solidFill>
                  <a:srgbClr val="406353"/>
                </a:solidFill>
                <a:latin typeface="DM Sans"/>
              </a:rPr>
              <a:t>An Empirical Investigation of Seasonal Disparities, Resource Efficiency, Crop Yields, and Economic Outcomes using Python Data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4475" y="4062858"/>
            <a:ext cx="21478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52B788"/>
                </a:solidFill>
                <a:latin typeface="DM Sans"/>
              </a:rPr>
              <a:t>STUDENT 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4475" y="4215258"/>
            <a:ext cx="21478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B4332"/>
                </a:solidFill>
                <a:latin typeface="DM Sans SemiBold"/>
              </a:rPr>
              <a:t>Pradeep Kumar Tiwari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2862" y="4062858"/>
            <a:ext cx="21478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52B788"/>
                </a:solidFill>
                <a:latin typeface="DM Sans"/>
              </a:rPr>
              <a:t>COLLEGE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2862" y="4215258"/>
            <a:ext cx="2147887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B4332"/>
                </a:solidFill>
                <a:latin typeface="DM Sans SemiBold"/>
              </a:rPr>
              <a:t>Galgotias College of Engineering and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4062858"/>
            <a:ext cx="21478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52B788"/>
                </a:solidFill>
                <a:latin typeface="DM Sans"/>
              </a:rPr>
              <a:t>AICTE STU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1250" y="4215258"/>
            <a:ext cx="21478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B4332"/>
                </a:solidFill>
                <a:latin typeface="DM Sans SemiBold"/>
              </a:rPr>
              <a:t>STU681def06804441746792198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9637" y="4062858"/>
            <a:ext cx="2147887" cy="133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825" i="0" u="none">
                <a:solidFill>
                  <a:srgbClr val="52B788"/>
                </a:solidFill>
                <a:latin typeface="DM Sans"/>
              </a:rPr>
              <a:t>COURSE TRACK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9637" y="4215258"/>
            <a:ext cx="2147887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1B4332"/>
                </a:solidFill>
                <a:latin typeface="DM Sans SemiBold"/>
              </a:rPr>
              <a:t>Data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403574"/>
            <a:ext cx="5419725" cy="260330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403574"/>
            <a:ext cx="5419725" cy="26033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81050" y="2660749"/>
            <a:ext cx="515064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D6A4F"/>
                </a:solidFill>
                <a:latin typeface="Poppins"/>
              </a:rPr>
              <a:t>Context &amp; Seasonal Variations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050" y="3041749"/>
            <a:ext cx="4905375" cy="845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Agricultural activities are influenced by seasonal variations in environmental conditions, farming practices, resource availability, and market conditions. As a result, agricultural performance differs significantly across seasons.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4001392"/>
            <a:ext cx="4905375" cy="634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However, raw agricultural records do not clearly explain how performance metrics shift across seasons or what patterns emerge under distinct environmental regimes.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2660749"/>
            <a:ext cx="515064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D6A4F"/>
                </a:solidFill>
                <a:latin typeface="Poppins"/>
              </a:rPr>
              <a:t>Core Analytical Mandate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3041749"/>
            <a:ext cx="4905375" cy="6340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The objective is to analyze the 4,000-record agricultural dataset and investigate seasonal differences in performance by discovering meaningful patterns, trends, relationships, and variations.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790057"/>
            <a:ext cx="4905375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The investigation evaluates key drivers of crop yield, irrigation efficiency, and profitability across Kharif, Rabi, and Zaid cultivation cycles.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23875" y="428625"/>
            <a:ext cx="5650706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Project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3875" y="962025"/>
            <a:ext cx="5381625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3875" y="2809875"/>
            <a:ext cx="5650706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B4332"/>
                </a:solidFill>
                <a:latin typeface="Poppins"/>
              </a:rPr>
              <a:t>End-to-End Analytical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3086100"/>
            <a:ext cx="53816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This major project executes an end-to-end data analytics workflow on 4,000 farm records covering 8 crops (Wheat, Maize, Rice, Pulses, Cotton, Chilli, Groundnut, and Sugarcane) across Kharif, Rabi, and Zaid seasons.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875" y="3843337"/>
            <a:ext cx="538162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We perform systematic data cleaning, derived metric feature engineering (Water Productivity Index, Net Profit Margins), One-way ANOVA statistical tests, and correlation modeling to derive actionable farming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35746"/>
            <a:ext cx="2657475" cy="21389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2635746"/>
            <a:ext cx="2657475" cy="21389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2635746"/>
            <a:ext cx="2657475" cy="21389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2635746"/>
            <a:ext cx="2657475" cy="21389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854821"/>
            <a:ext cx="419100" cy="41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2950" y="3407271"/>
            <a:ext cx="184023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Farmers &amp; Growers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Select the most profitable crop varieties for each season and optimize irrigation techniques to avoid capital loss.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2854821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71875" y="3407271"/>
            <a:ext cx="122015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Agronomists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1875" y="3721596"/>
            <a:ext cx="2219325" cy="5397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Formulate precision input guidelines, benchmark soil moisture thresholds, and monitor seasonal pest risks.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854821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3407271"/>
            <a:ext cx="130016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Policy Makers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Establish informed regional water allocation quotas, subsidy policies, and seasonal Minimum Support Price (MSP) benchmarks.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725" y="2854821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29725" y="3407271"/>
            <a:ext cx="212026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AgTech Supply Chains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9725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Forecast regional harvest volumes, schedule cold-storage infrastructure, and reduce post-harvest logistical bottlenecks.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959596"/>
            <a:ext cx="20955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6650" y="2959596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959596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5925" y="2959596"/>
            <a:ext cx="26670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Who Are The End Users?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35746"/>
            <a:ext cx="2657475" cy="213895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2635746"/>
            <a:ext cx="2657475" cy="213895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5" y="2635746"/>
            <a:ext cx="2657475" cy="213895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2635746"/>
            <a:ext cx="2657475" cy="213895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2854821"/>
            <a:ext cx="419100" cy="4191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2950" y="3407271"/>
            <a:ext cx="1170146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Python 3.10+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950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Core programming language providing robust data cleaning pipelines, numerical calculations, and automated scripts.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1875" y="2854821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71875" y="3407271"/>
            <a:ext cx="1630203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Pandas &amp; NumPy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1875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Vectorized tabular processing for missing value handling, grouping by season, and derived metric calculations.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854821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3407271"/>
            <a:ext cx="2020252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Matplotlib &amp; Seaborn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Publication-grade visual toolkits used to render comparative seasonal bar charts, boxplots, and correlation heatmaps.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9725" y="2854821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29725" y="3407271"/>
            <a:ext cx="1480185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B4332"/>
                </a:solidFill>
                <a:latin typeface="Poppins"/>
              </a:rPr>
              <a:t>SciPy &amp; Jupyter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9725" y="3721596"/>
            <a:ext cx="221932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17"/>
              </a:lnSpc>
            </a:pPr>
            <a:r>
              <a:rPr b="0" sz="1012" i="0" u="none">
                <a:solidFill>
                  <a:srgbClr val="40544A"/>
                </a:solidFill>
                <a:latin typeface="DM Sans"/>
              </a:rPr>
              <a:t>Statistical hypothesis testing (One-way ANOVA) and interactive exploratory analysis within documented notebooks.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12" y="2959596"/>
            <a:ext cx="18097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76650" y="2959596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575" y="2959596"/>
            <a:ext cx="20955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5925" y="2959596"/>
            <a:ext cx="266700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Technology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986087"/>
            <a:ext cx="3048000" cy="1438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2475" y="3290887"/>
            <a:ext cx="2590800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350"/>
              </a:lnSpc>
            </a:pPr>
            <a:r>
              <a:rPr b="1" sz="4350" i="0" u="none">
                <a:solidFill>
                  <a:srgbClr val="B7E4C7"/>
                </a:solidFill>
                <a:latin typeface="Poppins"/>
              </a:rPr>
              <a:t>5.64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2475" y="3919537"/>
            <a:ext cx="25908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FFFFFF"/>
                </a:solidFill>
                <a:latin typeface="DM Sans Medium"/>
              </a:rPr>
              <a:t>Peak Yield / Ha (Kharif Season)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6675" y="2493168"/>
            <a:ext cx="8181022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B4332"/>
                </a:solidFill>
                <a:latin typeface="Poppins"/>
              </a:rPr>
              <a:t>Significant Seasonal Disparities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76675" y="2769393"/>
            <a:ext cx="77914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Empirical evaluation of the 4,000 dataset records reveals distinct seasonal performance variations confirmed by ANOVA testing (p &lt; 0.001):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76675" y="3306365"/>
            <a:ext cx="77914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• </a:t>
            </a:r>
            <a:r>
              <a:rPr b="1" sz="1125" i="0" u="none">
                <a:solidFill>
                  <a:srgbClr val="2C3E35"/>
                </a:solidFill>
                <a:latin typeface="DM Sans"/>
              </a:rPr>
              <a:t>Kharif Profit Leader: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Generates highest average farm profit (₹1,78,915) and highest average yield (5.64 t/ha), supported by 852.1 mm rainfall.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76675" y="3843337"/>
            <a:ext cx="77914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• </a:t>
            </a:r>
            <a:r>
              <a:rPr b="1" sz="1125" i="0" u="none">
                <a:solidFill>
                  <a:srgbClr val="2C3E35"/>
                </a:solidFill>
                <a:latin typeface="DM Sans"/>
              </a:rPr>
              <a:t>Rabi Predictability: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High yield stability (5.08 t/ha) with moderate irrigation demand (5,847 m³) and ₹87,689 average profit.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76675" y="4380309"/>
            <a:ext cx="77914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• </a:t>
            </a:r>
            <a:r>
              <a:rPr b="1" sz="1125" i="0" u="none">
                <a:solidFill>
                  <a:srgbClr val="2C3E35"/>
                </a:solidFill>
                <a:latin typeface="DM Sans"/>
              </a:rPr>
              <a:t>Zaid Deficit: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Drops to 4.67 t/ha yield with negative net returns (-₹24,805) due to severe summer evapotranspiration and pumping costs.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Key Performance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222301"/>
            <a:ext cx="5419725" cy="29658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391965"/>
            <a:ext cx="5419725" cy="26265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231826"/>
            <a:ext cx="5400675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925" y="2401490"/>
            <a:ext cx="5400675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Code &amp; Pipeline Execution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981075"/>
            <a:ext cx="11144250" cy="5448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7237" y="4771132"/>
            <a:ext cx="10677525" cy="211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4"/>
              </a:lnSpc>
            </a:pPr>
            <a:r>
              <a:rPr b="0" sz="1125" i="1" u="none">
                <a:solidFill>
                  <a:srgbClr val="2C3E35"/>
                </a:solidFill>
                <a:latin typeface="DM Sans"/>
              </a:rPr>
              <a:t>Across all non-sugarcane crops, Kharif yields consistently exceed Rabi and Zaid cycles. Summer Zaid crops display a 22-37% yield contraction across species.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Seasonal Yield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981075"/>
            <a:ext cx="11144250" cy="5448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4684514"/>
            <a:ext cx="11144250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64"/>
              </a:lnSpc>
            </a:pPr>
            <a:r>
              <a:rPr b="0" sz="1125" i="1" u="none">
                <a:solidFill>
                  <a:srgbClr val="2C3E35"/>
                </a:solidFill>
                <a:latin typeface="DM Sans"/>
              </a:rPr>
              <a:t>Although Zaid represents only 24% of farm records, it consumes the highest volume of water per hectare (6,420 m³) while exhibiting the lowest efficiency (4.41 t / 1,000 m³).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Seasonal Water Utilization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2267991"/>
            <a:ext cx="11144250" cy="2874466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23875" y="2267991"/>
          <a:ext cx="11125198" cy="28744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893516"/>
                <a:gridCol w="2061120"/>
                <a:gridCol w="1664791"/>
                <a:gridCol w="1836539"/>
                <a:gridCol w="2669232"/>
              </a:tblGrid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Metric / 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Kharif (Monsoon)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Rabi (Winter)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Zaid (Summer)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1B4332"/>
                          </a:solidFill>
                          <a:latin typeface="Poppins SemiBold"/>
                        </a:rPr>
                        <a:t>Statistical Significance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EF5F0"/>
                    </a:solidFill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Average Yield (Tonnes/Ha)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5.64 t/ha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5.08 t/ha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4.67 t/ha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F = 42.18, p &lt; 0.001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Mean Rainfall (mm)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852.1 mm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436.0 mm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299.4 mm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F = 184.6, p &lt; 0.001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Water Consumption (m³)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6,102 m³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5,847 m³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6,420 m³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p &lt; 0.01 (Significant)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Water Efficiency (t/1000m³)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5.89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5.19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4.41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p &lt; 0.001 (Significant)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Average Net Profit (INR)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+₹1,78,915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+₹87,689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-₹24,805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p &lt; 0.001 (Loss in Zaid)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10638">
                <a:tc>
                  <a:txBody>
                    <a:bodyPr/>
                    <a:lstStyle/>
                    <a:p>
                      <a:pPr algn="l"/>
                      <a:r>
                        <a:rPr b="1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Disease &amp; Pest Risk (%)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54.5%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40.5%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38.2%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12" i="0" u="none">
                          <a:solidFill>
                            <a:srgbClr val="2C3E35"/>
                          </a:solidFill>
                          <a:latin typeface="DM Sans"/>
                        </a:rPr>
                        <a:t>Highest in humid Kharif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33400" y="2677269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26916" y="2677269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8037" y="2677269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52828" y="2677269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9367" y="2677269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3086546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6916" y="3086546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8037" y="3086546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52828" y="3086546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89367" y="3086546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3400" y="3495823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6916" y="3495823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8037" y="3495823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52828" y="3495823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89367" y="3495823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400" y="3905101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26916" y="3905101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8037" y="3905101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52828" y="3905101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89367" y="3905101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3400" y="4314378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26916" y="4314378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8037" y="4314378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52828" y="4314378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89367" y="4314378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3400" y="4723655"/>
            <a:ext cx="2893516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26916" y="4723655"/>
            <a:ext cx="2061120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8037" y="4723655"/>
            <a:ext cx="1664791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152828" y="4723655"/>
            <a:ext cx="1836539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89367" y="4723655"/>
            <a:ext cx="2669232" cy="9525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Results: Comparative Season Matrix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2199679"/>
            <a:ext cx="11144250" cy="647997"/>
          </a:xfrm>
          <a:prstGeom prst="roundRect">
            <a:avLst>
              <a:gd name="adj" fmla="val 14699"/>
            </a:avLst>
          </a:prstGeom>
          <a:solidFill>
            <a:srgbClr val="FFFFFF"/>
          </a:solidFill>
          <a:ln w="9525">
            <a:solidFill>
              <a:srgbClr val="D8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1075" y="2313979"/>
            <a:ext cx="10515600" cy="419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2C3E35"/>
                </a:solidFill>
                <a:latin typeface="DM Sans"/>
              </a:rPr>
              <a:t>Predictive Machine Learning Modeling:</a:t>
            </a:r>
            <a:r>
              <a:rPr b="0" sz="1087" i="0" u="none">
                <a:solidFill>
                  <a:srgbClr val="2C3E35"/>
                </a:solidFill>
                <a:latin typeface="DM Sans"/>
              </a:rPr>
              <a:t> Train ensemble models (XGBoost, Random Forest) to forecast seasonal crop yields and market revenues before sowing using 15-day weather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3875" y="2952452"/>
            <a:ext cx="11144250" cy="647997"/>
          </a:xfrm>
          <a:prstGeom prst="roundRect">
            <a:avLst>
              <a:gd name="adj" fmla="val 14699"/>
            </a:avLst>
          </a:prstGeom>
          <a:solidFill>
            <a:srgbClr val="FFFFFF"/>
          </a:solidFill>
          <a:ln w="9525">
            <a:solidFill>
              <a:srgbClr val="D8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1075" y="3066752"/>
            <a:ext cx="10515600" cy="419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2C3E35"/>
                </a:solidFill>
                <a:latin typeface="DM Sans"/>
              </a:rPr>
              <a:t>Satellite Remote Sensing &amp; NDVI:</a:t>
            </a:r>
            <a:r>
              <a:rPr b="0" sz="1087" i="0" u="none">
                <a:solidFill>
                  <a:srgbClr val="2C3E35"/>
                </a:solidFill>
                <a:latin typeface="DM Sans"/>
              </a:rPr>
              <a:t> Integrate Sentinel-2 multi-spectral satellite imagery to monitor vegetation health index and regional soil moisture depletion across seasons.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3875" y="3705225"/>
            <a:ext cx="11144250" cy="647997"/>
          </a:xfrm>
          <a:prstGeom prst="roundRect">
            <a:avLst>
              <a:gd name="adj" fmla="val 14699"/>
            </a:avLst>
          </a:prstGeom>
          <a:solidFill>
            <a:srgbClr val="FFFFFF"/>
          </a:solidFill>
          <a:ln w="9525">
            <a:solidFill>
              <a:srgbClr val="D8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1075" y="3819525"/>
            <a:ext cx="10515600" cy="419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2C3E35"/>
                </a:solidFill>
                <a:latin typeface="DM Sans"/>
              </a:rPr>
              <a:t>Farmer Decision Support Bot:</a:t>
            </a:r>
            <a:r>
              <a:rPr b="0" sz="1087" i="0" u="none">
                <a:solidFill>
                  <a:srgbClr val="2C3E35"/>
                </a:solidFill>
                <a:latin typeface="DM Sans"/>
              </a:rPr>
              <a:t> Build an automated multilingual mobile advisory service providing micro-irrigation schedules and seasonal crop rotation recommendations.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3875" y="4457997"/>
            <a:ext cx="11144250" cy="647997"/>
          </a:xfrm>
          <a:prstGeom prst="roundRect">
            <a:avLst>
              <a:gd name="adj" fmla="val 14699"/>
            </a:avLst>
          </a:prstGeom>
          <a:solidFill>
            <a:srgbClr val="FFFFFF"/>
          </a:solidFill>
          <a:ln w="9525">
            <a:solidFill>
              <a:srgbClr val="D8E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1075" y="4572297"/>
            <a:ext cx="10515600" cy="4193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b="1" sz="1087" i="0" u="none">
                <a:solidFill>
                  <a:srgbClr val="2C3E35"/>
                </a:solidFill>
                <a:latin typeface="DM Sans"/>
              </a:rPr>
              <a:t>Climate Resilience Stress Testing:</a:t>
            </a:r>
            <a:r>
              <a:rPr b="0" sz="1087" i="0" u="none">
                <a:solidFill>
                  <a:srgbClr val="2C3E35"/>
                </a:solidFill>
                <a:latin typeface="DM Sans"/>
              </a:rPr>
              <a:t> Simulate extreme temperature shocks, erratic monsoon onsets, and groundwater depletion scenarios to design data-driven crop insurance models.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875" y="2838152"/>
            <a:ext cx="11144250" cy="9525"/>
          </a:xfrm>
          <a:prstGeom prst="rect">
            <a:avLst/>
          </a:prstGeom>
          <a:solidFill>
            <a:srgbClr val="D8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3875" y="3590925"/>
            <a:ext cx="11144250" cy="9525"/>
          </a:xfrm>
          <a:prstGeom prst="rect">
            <a:avLst/>
          </a:prstGeom>
          <a:solidFill>
            <a:srgbClr val="D8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" y="4343697"/>
            <a:ext cx="11144250" cy="9525"/>
          </a:xfrm>
          <a:prstGeom prst="rect">
            <a:avLst/>
          </a:prstGeom>
          <a:solidFill>
            <a:srgbClr val="D8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" y="5096470"/>
            <a:ext cx="11144250" cy="9525"/>
          </a:xfrm>
          <a:prstGeom prst="rect">
            <a:avLst/>
          </a:prstGeom>
          <a:solidFill>
            <a:srgbClr val="D8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325" y="2352079"/>
            <a:ext cx="161925" cy="1619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325" y="3104852"/>
            <a:ext cx="161925" cy="1619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325" y="3857625"/>
            <a:ext cx="123825" cy="1619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4610397"/>
            <a:ext cx="200025" cy="1619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Future Scope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038350"/>
            <a:ext cx="5419725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2302668"/>
            <a:ext cx="5419725" cy="422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0" sz="1125" i="0" u="none">
                <a:solidFill>
                  <a:srgbClr val="2C3E35"/>
                </a:solidFill>
                <a:latin typeface="DM Sans"/>
              </a:rPr>
              <a:t>The entire source code, dataset processing scripts, interactive Jupyter notebooks, and exported graphics are publicly available on GitHub: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2982515"/>
            <a:ext cx="180975" cy="19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25" y="3030140"/>
            <a:ext cx="4930928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/>
            </a:pPr>
            <a:r>
              <a:rPr b="0" sz="975" i="0" u="none">
                <a:solidFill>
                  <a:srgbClr val="1B4332"/>
                </a:solidFill>
                <a:latin typeface="monospace SemiBold"/>
              </a:rPr>
              <a:t>https://github.com/PradeepTiwari12/Seasonal-Agriculture-Performance-Analysis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88318"/>
            <a:ext cx="47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C3E35"/>
                </a:solidFill>
                <a:latin typeface="DM San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75" y="3687365"/>
            <a:ext cx="5038725" cy="422671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1" sz="1125" i="0" u="none">
                <a:solidFill>
                  <a:srgbClr val="2C3E35"/>
                </a:solidFill>
                <a:latin typeface="DM Sans"/>
              </a:rPr>
              <a:t>seasonal_agriculture_analysis.py: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Automated cleaning, ANOVA hypothesis testing, and chart generation.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110990"/>
            <a:ext cx="47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C3E35"/>
                </a:solidFill>
                <a:latin typeface="DM Sans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875" y="4110037"/>
            <a:ext cx="5038725" cy="422671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1" sz="1125" i="0" u="none">
                <a:solidFill>
                  <a:srgbClr val="2C3E35"/>
                </a:solidFill>
                <a:latin typeface="DM Sans"/>
              </a:rPr>
              <a:t>analysis_outputs/: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High-resolution correlation heatmaps and multi-season bar plots.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533661"/>
            <a:ext cx="47625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2C3E35"/>
                </a:solidFill>
                <a:latin typeface="DM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4532709"/>
            <a:ext cx="5038725" cy="422671"/>
          </a:xfrm>
          <a:prstGeom prst="rect">
            <a:avLst/>
          </a:prstGeom>
          <a:noFill/>
        </p:spPr>
        <p:txBody>
          <a:bodyPr wrap="square" lIns="47625" rIns="0" tIns="0" bIns="0" anchor="t">
            <a:spAutoFit/>
          </a:bodyPr>
          <a:lstStyle/>
          <a:p>
            <a:pPr algn="l">
              <a:lnSpc>
                <a:spcPts val="1664"/>
              </a:lnSpc>
            </a:pPr>
            <a:r>
              <a:rPr b="1" sz="1125" i="0" u="none">
                <a:solidFill>
                  <a:srgbClr val="2C3E35"/>
                </a:solidFill>
                <a:latin typeface="DM Sans"/>
              </a:rPr>
              <a:t>notebooks/:</a:t>
            </a:r>
            <a:r>
              <a:rPr b="0" sz="1125" i="0" u="none">
                <a:solidFill>
                  <a:srgbClr val="2C3E35"/>
                </a:solidFill>
                <a:latin typeface="DM Sans"/>
              </a:rPr>
              <a:t> Step-by-step exploratory data analysis with detailed documentation.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925" y="2047875"/>
            <a:ext cx="5400675" cy="3314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GitHub Project Repository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ertificate_replace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5576" y="91440"/>
            <a:ext cx="9440847" cy="66751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0581" y="428625"/>
            <a:ext cx="2890837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2621756"/>
            <a:ext cx="6019800" cy="4095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1937" y="857250"/>
            <a:ext cx="11668125" cy="742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1B4332"/>
                </a:solidFill>
                <a:latin typeface="Poppi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3875" y="1695450"/>
            <a:ext cx="11144250" cy="2536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b="0" sz="1350" i="0" u="none">
                <a:solidFill>
                  <a:srgbClr val="40544A"/>
                </a:solidFill>
                <a:latin typeface="DM Sans"/>
              </a:rPr>
              <a:t>Seasonal Agriculture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3875" y="2063353"/>
            <a:ext cx="11144250" cy="2536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b="0" sz="1350" i="0" u="none">
                <a:solidFill>
                  <a:srgbClr val="1B4332"/>
                </a:solidFill>
                <a:latin typeface="DM Sans SemiBold"/>
              </a:rPr>
              <a:t>Candidate: Pradeep Kumar Tiwari | Galgotias College of Engineering and Technology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4225" y="2745581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23875" y="2856755"/>
            <a:ext cx="11144250" cy="934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875" y="37820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23875" y="37820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081188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9250" y="2999630"/>
            <a:ext cx="10048875" cy="3664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b="0" sz="975" i="0" u="none">
                <a:solidFill>
                  <a:srgbClr val="2C3E35"/>
                </a:solidFill>
                <a:latin typeface="DM Sans"/>
              </a:rPr>
              <a:t>https://plus.unsplash.com/premium_photo-1674019234994-eceabbdd091d?fm=jpg&amp;q=60&amp;w=3000&amp;auto=format&amp;fit=crop&amp;ixlib=rb-4.1.0&amp;ixid=M3wxMjA3fDB8MHxwaG90by1wYWdlfHx8fGVufDB8fHx8fA%3D%3D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9250" y="3413670"/>
            <a:ext cx="10048875" cy="225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b="0" sz="1200" i="0" u="none">
                <a:solidFill>
                  <a:srgbClr val="2C3E3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unsplash.com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934420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19250" y="3944391"/>
            <a:ext cx="10048875" cy="183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b="0" sz="975" i="0" u="none">
                <a:solidFill>
                  <a:srgbClr val="2C3E35"/>
                </a:solidFill>
                <a:latin typeface="DM Sans"/>
              </a:rPr>
              <a:t>https://images.ctfassets.net/8aevphvgewt8/6Haf7BUreZPMqRi8Lm8JF8/5a0b2b5fe15a78bc312cb1a087c8ac54/image_8.png?fm=webp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75224"/>
            <a:ext cx="10048875" cy="225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b="0" sz="1200" i="0" u="none">
                <a:solidFill>
                  <a:srgbClr val="2C3E3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github.com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Image Sources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23875" y="2856755"/>
            <a:ext cx="11144250" cy="93478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23875" y="37820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3875" y="3782020"/>
            <a:ext cx="111442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081188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19250" y="2999630"/>
            <a:ext cx="10048875" cy="3664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b="0" sz="975" i="0" u="none">
                <a:solidFill>
                  <a:srgbClr val="2C3E35"/>
                </a:solidFill>
                <a:latin typeface="DM Sans"/>
              </a:rPr>
              <a:t>https://plus.unsplash.com/premium_photo-1674019234994-eceabbdd091d?fm=jpg&amp;q=60&amp;w=3000&amp;auto=format&amp;fit=crop&amp;ixlib=rb-4.1.0&amp;ixid=M3wxMjA3fDB8MHxwaG90by1wYWdlfHx8fGVufDB8fHx8fA%3D%3D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250" y="3413670"/>
            <a:ext cx="10048875" cy="225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b="0" sz="1200" i="0" u="none">
                <a:solidFill>
                  <a:srgbClr val="2C3E3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unsplash.com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393442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19250" y="3944391"/>
            <a:ext cx="10048875" cy="183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b="0" sz="975" i="0" u="none">
                <a:solidFill>
                  <a:srgbClr val="2C3E35"/>
                </a:solidFill>
                <a:latin typeface="DM Sans"/>
              </a:rPr>
              <a:t>https://images.ctfassets.net/8aevphvgewt8/6Haf7BUreZPMqRi8Lm8JF8/5a0b2b5fe15a78bc312cb1a087c8ac54/image_8.png?fm=webp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4175224"/>
            <a:ext cx="10048875" cy="2254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75"/>
              </a:lnSpc>
            </a:pPr>
            <a:r>
              <a:rPr b="0" sz="1200" i="0" u="none">
                <a:solidFill>
                  <a:srgbClr val="2C3E35"/>
                </a:solidFill>
                <a:latin typeface="DM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DM Sans"/>
              </a:rPr>
              <a:t>github.com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875" y="428625"/>
            <a:ext cx="11668125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B4332"/>
                </a:solidFill>
                <a:latin typeface="Poppins"/>
              </a:rPr>
              <a:t>Image Sources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3875" y="962025"/>
            <a:ext cx="11144250" cy="19050"/>
          </a:xfrm>
          <a:prstGeom prst="rect">
            <a:avLst/>
          </a:prstGeom>
          <a:solidFill>
            <a:srgbClr val="E2E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